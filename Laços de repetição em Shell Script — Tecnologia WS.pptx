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slide" Target="slides/slide14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indent="-228600" lvl="1" marL="914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indent="-228600" lvl="2" marL="1371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indent="-228600" lvl="3" marL="1828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indent="-228600" lvl="4" marL="22860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indent="-228600" lvl="5" marL="27432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indent="-228600" lvl="6" marL="32004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indent="-228600" lvl="7" marL="36576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indent="-228600" lvl="8" marL="411480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" name="Google Shape;33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Apresente o objetivo: calcular valores e tomar decisões em scripts Bash. Aula de aproximadamente 20 a 25 minutos. Pré-requisito: variáveis.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34" name="Google Shape;34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" name="Google Shape;42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Mostre o resultado 24. As atribuições não têm espaços ao redor de =. Os exemplos usam valores fixos para concentrar a aula nos operadores.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43" name="Google Shape;43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1" name="Google Shape;51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Explique divisão inteira. O resto identifica números pares: numero % 2 == 0. Números decimais exigem ferramenta como bc ou awk. Não dividir por zero.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52" name="Google Shape;52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0" name="Google Shape;60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Dentro da expressão aritmética, podemos referenciar a e b sem $. As duas camadas de parênteses fazem parte da sintaxe.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61" name="Google Shape;61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69" name="Google Shape;69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Multiplicação tem prioridade sobre adição. Leia com calma a expansão do segundo exemplo: os parênteses internos agrupam 2 + 3.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70" name="Google Shape;70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78" name="Google Shape;78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Distinguir == de =. ((expressão)) é um comando: expressão diferente de zero resulta em status 0, que significa sucesso. Expressão zero resulta em status 1.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79" name="Google Shape;79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87" name="Google Shape;87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Leia cada linha. if testa o status da condição. then abre o ramo verdadeiro, else o alternativo e fi encerra. Saída: Maior de idade.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88" name="Google Shape;88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6" name="Google Shape;96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Em [ ], preservar espaços e aspas nas variáveis. Comparações com == em [[ ]] comparam texto/padrões, não números. No escopo desta aula, preferir (( )) para números. Bash oferece extensões não garantidas em sh.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97" name="Google Shape;97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9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5" name="Google Shape;105;p9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&amp;&amp; representa E. Com idade 20 e pontos 75, as duas condições são verdadeiras. Altere pontos para 60 e mostre que o bloco não executa. Há curto-circuito: a segunda expressão só é avaliada quando necessário.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06" name="Google Shape;106;p9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0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4" name="Google Shape;114;p10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Defina tentativas=2, pontos=60 e idade=16 para demonstrar. OU também é verdadeiro quando ambas as condições são verdadeiras. ! representa negação. Use parênteses para explicitar agrupamento.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15" name="Google Shape;115;p10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3" name="Google Shape;123;p1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Multiplicação calcula 24, &gt; e &lt;= comparam, &amp;&amp; combina as condições. Saída: Compra aprovada: R$ 24. Não é um sistema de pagamento real: é um exemplo com inteiros e valores fixos.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24" name="Google Shape;124;p1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2" name="Google Shape;132;p1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Pause a aula antes de revelar a resposta. 9 é positivo, mas o resto de 9 / 2 é 1. Por isso a condição inteira é falsa.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33" name="Google Shape;133;p1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1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Peça para trocar numero por 8, 0 e -2 e prever cada saída. Aritméticos calculam, relacionais comparam e lógicos combinam ou negam condições.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42" name="Google Shape;142;p1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50" name="Google Shape;150;p1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Sugestão de tarefa: adaptar o exemplo para preço 5, quantidade 4 e orçamento 15. Primeiro prever, depois executar com bash arquivo.sh. Referências: https://www.gnu.org/software/bash/manual/html_node/Shell-Arithmetic.html e https://www.gnu.org/software/bash/manual/html_node/Bash-Conditional-Expressions.html e https://www.gnu.org/software/bash/manual/html_node/Conditional-Constructs.html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/>
              <a:t>Base técnica: https://www.gnu.org/software/bash/manual/bash.html</a:t>
            </a:r>
            <a:endParaRPr/>
          </a:p>
        </p:txBody>
      </p:sp>
      <p:sp>
        <p:nvSpPr>
          <p:cNvPr id="151" name="Google Shape;151;p1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5791200" y="22098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3"/>
          <p:cNvSpPr txBox="1"/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/>
          <p:nvPr/>
        </p:nvSpPr>
        <p:spPr>
          <a:xfrm>
            <a:off x="5791200" y="24765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4"/>
          <p:cNvSpPr txBox="1"/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5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1" name="Google Shape;21;p5"/>
          <p:cNvSpPr txBox="1"/>
          <p:nvPr>
            <p:ph idx="1" type="body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">
  <p:cSld name="Title and Two Column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6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25" name="Google Shape;25;p6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26" name="Google Shape;26;p6"/>
          <p:cNvSpPr txBox="1"/>
          <p:nvPr>
            <p:ph idx="2" type="body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One Column">
  <p:cSld name="Title and One Column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7"/>
          <p:cNvSpPr/>
          <p:nvPr/>
        </p:nvSpPr>
        <p:spPr>
          <a:xfrm>
            <a:off x="685800" y="1524000"/>
            <a:ext cx="609600" cy="38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7"/>
          <p:cNvSpPr txBox="1"/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2pPr>
            <a:lvl3pPr lvl="2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3pPr>
            <a:lvl4pPr lvl="3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4pPr>
            <a:lvl5pPr lvl="4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5pPr>
            <a:lvl6pPr lvl="5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6pPr>
            <a:lvl7pPr lvl="6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7pPr>
            <a:lvl8pPr lvl="7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8pPr>
            <a:lvl9pPr lvl="8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  <a:defRPr sz="18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064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11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110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233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/>
          <p:nvPr/>
        </p:nvSpPr>
        <p:spPr>
          <a:xfrm>
            <a:off x="685800" y="523875"/>
            <a:ext cx="10763250" cy="18573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Laços de repetição</a:t>
            </a:r>
            <a:endParaRPr b="1" sz="4800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800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em Shell Script</a:t>
            </a:r>
            <a:endParaRPr b="1" sz="4800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7" name="Google Shape;37;p8"/>
          <p:cNvSpPr/>
          <p:nvPr/>
        </p:nvSpPr>
        <p:spPr>
          <a:xfrm>
            <a:off x="723900" y="2762250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for, while e until no Bash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8" name="Google Shape;38;p8"/>
          <p:cNvSpPr/>
          <p:nvPr/>
        </p:nvSpPr>
        <p:spPr>
          <a:xfrm>
            <a:off x="723900" y="4524375"/>
            <a:ext cx="1076325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CBD5E1"/>
                </a:solidFill>
                <a:latin typeface="Verdana"/>
                <a:ea typeface="Verdana"/>
                <a:cs typeface="Verdana"/>
                <a:sym typeface="Verdana"/>
              </a:rPr>
              <a:t>Wanderlei Silva do Carmo</a:t>
            </a:r>
            <a:endParaRPr sz="1950">
              <a:solidFill>
                <a:srgbClr val="CBD5E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>
                <a:solidFill>
                  <a:srgbClr val="CBD5E1"/>
                </a:solidFill>
                <a:latin typeface="Verdana"/>
                <a:ea typeface="Verdana"/>
                <a:cs typeface="Verdana"/>
                <a:sym typeface="Verdana"/>
              </a:rPr>
              <a:t>Tecnologia WS / EscolaWS</a:t>
            </a:r>
            <a:endParaRPr sz="1950">
              <a:solidFill>
                <a:srgbClr val="CBD5E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39" name="Google Shape;39;p8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01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Uma tarefa, várias execuções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6" name="Google Shape;46;p9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Um laço repete um bloco de comandos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7" name="Google Shape;47;p9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Percorrer uma lista de frutas.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Contar de 1 a 9.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Repetir enquanto uma condição permitir.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Nesta aula: sintaxe, exemplos e controle.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Execute os exemplos com Bash.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48" name="Google Shape;48;p9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02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0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Qual laço escolher?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5" name="Google Shape;55;p10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A escolha depende do que controla a repetição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6" name="Google Shape;56;p10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for     percorre itens ou uma sequência.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while   repete enquanto a condição é verdadeira.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until   repete enquanto a condição é falsa.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while e until testam antes de executar.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O bloco pode executar zero vezes.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57" name="Google Shape;57;p10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03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1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for: uma lista de frutas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4" name="Google Shape;64;p11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A variável recebe um item a cada passagem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5" name="Google Shape;65;p11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for fruta in banana maçã limão laranja uva; do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printf "%s\n" "$fruta"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Saída: uma fruta por linha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do inicia o bloco. done encerra.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66" name="Google Shape;66;p11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04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2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for: números de 1 a 9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3" name="Google Shape;73;p12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{1..9} gera uma sequência fixa no Bash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4" name="Google Shape;74;p12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for numero in {1..9}; do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printf "%d " "$numero"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printf "\n"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Saída: 1 2 3 4 5 6 7 8 9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75" name="Google Shape;75;p12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3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for: contador aritmético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2" name="Google Shape;82;p13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Início, condição e atualização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3" name="Google Shape;83;p13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limite=9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for (( i=1; i&lt;=limite; i++ )); do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printf "%d " "$i"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printf "\n"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Use esta forma com um limite variável.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4" name="Google Shape;84;p13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06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while: enquanto for verdadeiro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1" name="Google Shape;91;p14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O contador precisa avançar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2" name="Google Shape;92;p14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numero=1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while (( numero &lt;= 3 )); do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printf "%d\n" "$numero"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numero=$((numero + 1))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Saída: 1, 2 e 3, em linhas separadas.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93" name="Google Shape;93;p14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07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until: até ser verdadeiro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Repete enquanto a condição for falsa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1" name="Google Shape;101;p15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numero=1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until (( numero &gt; 3 )); do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printf "%d\n" "$numero"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numero=$((numero + 1))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A condição fica verdadeira em 4.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2" name="Google Shape;102;p15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08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while e until lado a lado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09" name="Google Shape;109;p16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Condições inversas podem produzir a mesma saída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0" name="Google Shape;110;p16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while (( numero &lt;= 3 ))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Repete com numero menor ou igual a 3.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until (( numero &gt; 3 ))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Repete até numero ficar maior que 3.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Com início em 1 e incremento de 1: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ambos exibem 1, 2 e 3.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1" name="Google Shape;111;p16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09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break: encerra o laço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8" name="Google Shape;118;p17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A primeira ocorrência interrompe a repetição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19" name="Google Shape;119;p17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for numero in {1..9}; do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if (( numero == 5 )); then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    break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fi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printf "%d " "$numero"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Saída: 1 2 3 4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10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continue: pula uma passagem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7" name="Google Shape;127;p18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O laço segue para a próxima iteração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8" name="Google Shape;128;p18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for numero in {1..9}; do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if (( numero % 2 != 0 )); then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    continue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fi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printf "%d " "$numero"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# Saída: 2 4 6 8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29" name="Google Shape;129;p18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11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9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Cuidados com a repetição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6" name="Google Shape;136;p19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Uma condição precisa ter como mudar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7" name="Google Shape;137;p19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Sem atualizar o contador, while pode não parar.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Ctrl+C interrompe a execução no terminal.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Em while, continue pode pular a atualização.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Use aspas nas variáveis de texto: "$fruta".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{1..$limite} não gera a sequência desejada.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Salve como aula.sh e execute: bash aula.sh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38" name="Google Shape;138;p19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12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Desafio: qual é a saída?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5" name="Google Shape;145;p20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Acompanhe o contador a cada passagem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soma=0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for (( i=1; i&lt;=3; i++ )); do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    soma=$((soma + i))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done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printf "%d\n" "$soma"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A) 3                 B) 6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13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11827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1"/>
          <p:cNvSpPr/>
          <p:nvPr/>
        </p:nvSpPr>
        <p:spPr>
          <a:xfrm>
            <a:off x="685800" y="523875"/>
            <a:ext cx="10763250" cy="857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375">
                <a:solidFill>
                  <a:srgbClr val="F8FAFC"/>
                </a:solidFill>
                <a:latin typeface="Verdana"/>
                <a:ea typeface="Verdana"/>
                <a:cs typeface="Verdana"/>
                <a:sym typeface="Verdana"/>
              </a:rPr>
              <a:t>Resposta e próxima prática</a:t>
            </a:r>
            <a:endParaRPr b="1" sz="3375">
              <a:solidFill>
                <a:srgbClr val="F8FAFC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4" name="Google Shape;154;p21"/>
          <p:cNvSpPr/>
          <p:nvPr/>
        </p:nvSpPr>
        <p:spPr>
          <a:xfrm>
            <a:off x="723900" y="1552575"/>
            <a:ext cx="10668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75">
                <a:solidFill>
                  <a:srgbClr val="38BDF8"/>
                </a:solidFill>
                <a:latin typeface="Verdana"/>
                <a:ea typeface="Verdana"/>
                <a:cs typeface="Verdana"/>
                <a:sym typeface="Verdana"/>
              </a:rPr>
              <a:t>Resposta B: a soma é 6</a:t>
            </a:r>
            <a:endParaRPr sz="2175">
              <a:solidFill>
                <a:srgbClr val="38BDF8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5" name="Google Shape;155;p21"/>
          <p:cNvSpPr/>
          <p:nvPr/>
        </p:nvSpPr>
        <p:spPr>
          <a:xfrm>
            <a:off x="723900" y="2524125"/>
            <a:ext cx="10763250" cy="3667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Passagem 1: soma = 0 + 1 = 1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Passagem 2: soma = 1 + 2 = 3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Passagem 3: soma = 3 + 3 = 6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Prática: conte de 9 até 1 usando while.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Depois, percorra uma lista de frutas com for.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325">
                <a:solidFill>
                  <a:srgbClr val="A7F3D0"/>
                </a:solidFill>
                <a:latin typeface="Verdana"/>
                <a:ea typeface="Verdana"/>
                <a:cs typeface="Verdana"/>
                <a:sym typeface="Verdana"/>
              </a:rPr>
              <a:t>Referência: Manual GNU Bash, Looping Constructs</a:t>
            </a:r>
            <a:endParaRPr sz="2325">
              <a:solidFill>
                <a:srgbClr val="A7F3D0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156" name="Google Shape;156;p21"/>
          <p:cNvSpPr/>
          <p:nvPr/>
        </p:nvSpPr>
        <p:spPr>
          <a:xfrm>
            <a:off x="11049000" y="6334125"/>
            <a:ext cx="6667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en-US" sz="1350">
                <a:solidFill>
                  <a:srgbClr val="94A3B8"/>
                </a:solidFill>
                <a:latin typeface="Verdana"/>
                <a:ea typeface="Verdana"/>
                <a:cs typeface="Verdana"/>
                <a:sym typeface="Verdana"/>
              </a:rPr>
              <a:t>14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